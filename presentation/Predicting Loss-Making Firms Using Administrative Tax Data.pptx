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63" r:id="rId4"/>
    <p:sldId id="265" r:id="rId5"/>
    <p:sldId id="266" r:id="rId6"/>
    <p:sldId id="259" r:id="rId7"/>
    <p:sldId id="260" r:id="rId8"/>
    <p:sldId id="267" r:id="rId9"/>
    <p:sldId id="264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37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72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93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1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80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5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292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35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79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404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06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1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7F4A8A-7B54-4D8D-933A-8921996A0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0EE970-B0FA-EF6A-B31D-C7E7C30DD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564" y="1388063"/>
            <a:ext cx="8229600" cy="1322004"/>
          </a:xfrm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B0F0"/>
                </a:solidFill>
              </a:rPr>
              <a:t>Predicting Loss-Making Firms Using Administrative Tax Data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Jigsaw puzzles in plastic figures">
            <a:extLst>
              <a:ext uri="{FF2B5EF4-FFF2-40B4-BE49-F238E27FC236}">
                <a16:creationId xmlns:a16="http://schemas.microsoft.com/office/drawing/2014/main" id="{FE9A9A5C-695C-F877-9EF2-9328D751BB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09" r="29441"/>
          <a:stretch>
            <a:fillRect/>
          </a:stretch>
        </p:blipFill>
        <p:spPr>
          <a:xfrm>
            <a:off x="8532727" y="1"/>
            <a:ext cx="365927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05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BCD464-4126-8C62-A50D-134B81FD3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D29B27A-FF34-ECBE-2D3D-22DBA0882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283A1A-B034-EBB0-22D8-8A41ADF21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0"/>
            <a:ext cx="12191999" cy="414557"/>
          </a:xfrm>
          <a:solidFill>
            <a:srgbClr val="00B0F0"/>
          </a:solidFill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Purpose and Policy Context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D3AC0E-7364-6BA4-51A2-1DECD95FD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DEA8856E-2C40-7DC1-6005-F25715924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414557"/>
            <a:ext cx="5161725" cy="329497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EFD5D43-F05C-4DD0-5F09-AEF93D2F66DB}"/>
              </a:ext>
            </a:extLst>
          </p:cNvPr>
          <p:cNvGrpSpPr/>
          <p:nvPr/>
        </p:nvGrpSpPr>
        <p:grpSpPr>
          <a:xfrm>
            <a:off x="0" y="3854200"/>
            <a:ext cx="5272058" cy="1858191"/>
            <a:chOff x="6047630" y="446693"/>
            <a:chExt cx="5165696" cy="184666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EFA5CE-CCC7-0421-B1E0-A61583327711}"/>
                </a:ext>
              </a:extLst>
            </p:cNvPr>
            <p:cNvSpPr txBox="1"/>
            <p:nvPr/>
          </p:nvSpPr>
          <p:spPr>
            <a:xfrm>
              <a:off x="6047630" y="754470"/>
              <a:ext cx="5165695" cy="153888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Kenya has persistently failed to meet Corporate Income Tax (CIT) revenue targets. The high prevalence of firms reporting losses significantly erodes the effective tax base, creating fiscal uncertainty</a:t>
              </a:r>
            </a:p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Persistent loss-making firms create compliance risk, inefficient audit allocation and revenue uncertainty.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DE41ACC-5E96-5F60-E062-E56810EC34AA}"/>
                </a:ext>
              </a:extLst>
            </p:cNvPr>
            <p:cNvSpPr txBox="1"/>
            <p:nvPr/>
          </p:nvSpPr>
          <p:spPr>
            <a:xfrm>
              <a:off x="6047632" y="446693"/>
              <a:ext cx="5165694" cy="3364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Business and policy Problem</a:t>
              </a:r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AAB73AA-BABD-E5A4-AADF-586BB73C7967}"/>
              </a:ext>
            </a:extLst>
          </p:cNvPr>
          <p:cNvGrpSpPr/>
          <p:nvPr/>
        </p:nvGrpSpPr>
        <p:grpSpPr>
          <a:xfrm>
            <a:off x="5539409" y="445084"/>
            <a:ext cx="6427303" cy="2566458"/>
            <a:chOff x="5885953" y="2512678"/>
            <a:chExt cx="6150996" cy="256645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E986A1-7013-97FF-AF7C-BE80B09D4121}"/>
                </a:ext>
              </a:extLst>
            </p:cNvPr>
            <p:cNvSpPr txBox="1"/>
            <p:nvPr/>
          </p:nvSpPr>
          <p:spPr>
            <a:xfrm>
              <a:off x="5885953" y="2512678"/>
              <a:ext cx="6150996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Value Proposition: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AFA370D-1CB0-00C4-B3AD-9E8A9E32FBE2}"/>
                </a:ext>
              </a:extLst>
            </p:cNvPr>
            <p:cNvSpPr txBox="1"/>
            <p:nvPr/>
          </p:nvSpPr>
          <p:spPr>
            <a:xfrm>
              <a:off x="5885953" y="2801589"/>
              <a:ext cx="6150996" cy="227754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285750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Enables risk-based targeting in place of blanket audits by developing an automated risk scoring system that:</a:t>
              </a:r>
            </a:p>
            <a:p>
              <a:pPr marL="742950" lvl="1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Processes firm-level Corporate Income Tax (CIT) return data following the methodology outlined in the project proposal.</a:t>
              </a:r>
            </a:p>
            <a:p>
              <a:pPr marL="742950" lvl="1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Employs an iterative modeling approach, starting with interpretable logistic regression as a primary benchmark.</a:t>
              </a:r>
            </a:p>
            <a:p>
              <a:pPr marL="742950" lvl="1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Leverages machine learning techniques to identify high-risk, loss-reporting firms for targeted compliance interventions.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D0239B-5428-1319-6BC0-9C7AD213C1DB}"/>
              </a:ext>
            </a:extLst>
          </p:cNvPr>
          <p:cNvGrpSpPr/>
          <p:nvPr/>
        </p:nvGrpSpPr>
        <p:grpSpPr>
          <a:xfrm>
            <a:off x="5539409" y="3300453"/>
            <a:ext cx="6367668" cy="3185237"/>
            <a:chOff x="5797824" y="3301317"/>
            <a:chExt cx="6188435" cy="31852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B4013E6-B29D-CE7F-2314-C460AF3D0E78}"/>
                </a:ext>
              </a:extLst>
            </p:cNvPr>
            <p:cNvSpPr txBox="1"/>
            <p:nvPr/>
          </p:nvSpPr>
          <p:spPr>
            <a:xfrm>
              <a:off x="5797824" y="3301317"/>
              <a:ext cx="6188435" cy="5539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Main Objective: 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develop a supervised predictive model that estimates the probability of a firm reporting a loss, as defined in the project proposal.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5F64C68-23D4-9206-CC1D-6F847F3C6089}"/>
                </a:ext>
              </a:extLst>
            </p:cNvPr>
            <p:cNvSpPr txBox="1"/>
            <p:nvPr/>
          </p:nvSpPr>
          <p:spPr>
            <a:xfrm>
              <a:off x="5797824" y="3855064"/>
              <a:ext cx="6188435" cy="26314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600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Specific Objectives</a:t>
              </a:r>
            </a:p>
            <a:p>
              <a:pPr marL="285750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Empirically identify firm-level characteristics associated with loss reporting in CIT returns.</a:t>
              </a:r>
            </a:p>
            <a:p>
              <a:pPr marL="285750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Develop a supervised predictive model to estimate the probability of a firm reporting a loss.</a:t>
              </a:r>
            </a:p>
            <a:p>
              <a:pPr marL="285750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Assess the concentration and distribution of loss behavior across sectors and firm groups.</a:t>
              </a:r>
            </a:p>
            <a:p>
              <a:pPr marL="285750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Translate firm-level loss probabilities into insights on aggregate CIT revenue risk.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8076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B33E3E-79B7-7935-573C-6446AEDB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9A8461-9F92-2B2F-FBFF-3F739287D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D84A75-D700-616F-C1EC-72551B54C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76052341-2386-ED80-8F5A-AE0091737A31}"/>
              </a:ext>
            </a:extLst>
          </p:cNvPr>
          <p:cNvSpPr txBox="1">
            <a:spLocks/>
          </p:cNvSpPr>
          <p:nvPr/>
        </p:nvSpPr>
        <p:spPr>
          <a:xfrm>
            <a:off x="-1" y="-31958"/>
            <a:ext cx="12191999" cy="415726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and Overview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D32F139-1144-2F12-35BE-8B5704BF5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665" y="968544"/>
            <a:ext cx="4218694" cy="32108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D32BE0-DF6D-D7E6-930C-66ABA8671DAE}"/>
              </a:ext>
            </a:extLst>
          </p:cNvPr>
          <p:cNvSpPr txBox="1"/>
          <p:nvPr/>
        </p:nvSpPr>
        <p:spPr>
          <a:xfrm>
            <a:off x="0" y="780257"/>
            <a:ext cx="5705061" cy="22775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is based on raw 2024 Corporate Income Tax (CIT) return data obtained from administrative tax filings. The dataset contains:</a:t>
            </a:r>
          </a:p>
          <a:p>
            <a:pPr marL="548640" lvl="2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313,870 firm-year observations</a:t>
            </a:r>
          </a:p>
          <a:p>
            <a:pPr marL="548640" lvl="2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 variables</a:t>
            </a:r>
          </a:p>
          <a:p>
            <a:pPr marL="1005840" lvl="4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 numeric variables (primarily financial statement items)</a:t>
            </a:r>
          </a:p>
          <a:p>
            <a:pPr marL="1005840" lvl="4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categorical variables, mainly capturing:</a:t>
            </a:r>
          </a:p>
          <a:p>
            <a:pPr marL="1463040" lvl="6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 classification</a:t>
            </a:r>
          </a:p>
          <a:p>
            <a:pPr marL="1463040" lvl="6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size categories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DA2764-66FB-F059-7F90-9A5A599DC059}"/>
              </a:ext>
            </a:extLst>
          </p:cNvPr>
          <p:cNvSpPr txBox="1"/>
          <p:nvPr/>
        </p:nvSpPr>
        <p:spPr>
          <a:xfrm>
            <a:off x="1" y="427349"/>
            <a:ext cx="570506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618CEED-7948-4813-724C-806E3A0AD8BC}"/>
              </a:ext>
            </a:extLst>
          </p:cNvPr>
          <p:cNvGrpSpPr/>
          <p:nvPr/>
        </p:nvGrpSpPr>
        <p:grpSpPr>
          <a:xfrm>
            <a:off x="23190" y="3429000"/>
            <a:ext cx="5681871" cy="1335335"/>
            <a:chOff x="0" y="3784160"/>
            <a:chExt cx="6814055" cy="133533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59A169-B531-67E4-71FC-88C285333BC5}"/>
                </a:ext>
              </a:extLst>
            </p:cNvPr>
            <p:cNvSpPr txBox="1"/>
            <p:nvPr/>
          </p:nvSpPr>
          <p:spPr>
            <a:xfrm>
              <a:off x="1" y="3784160"/>
              <a:ext cx="6814054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Target Variable Definition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E284336-BD3D-317B-DF2E-3E6751A52481}"/>
                </a:ext>
              </a:extLst>
            </p:cNvPr>
            <p:cNvSpPr txBox="1"/>
            <p:nvPr/>
          </p:nvSpPr>
          <p:spPr>
            <a:xfrm>
              <a:off x="0" y="4149999"/>
              <a:ext cx="6814054" cy="96949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91440" indent="-1714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target variable is defined as: </a:t>
              </a:r>
            </a:p>
            <a:p>
              <a:pPr marL="662940" lvl="1" indent="-285750" algn="just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is_loss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1 if Profit Before Tax (PBT) &lt; 0</a:t>
              </a:r>
            </a:p>
            <a:p>
              <a:pPr marL="662940" lvl="1" indent="-285750" algn="just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is_loss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0 otherwise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23684DD-AB97-658B-7950-6F41E90EDF4B}"/>
              </a:ext>
            </a:extLst>
          </p:cNvPr>
          <p:cNvGrpSpPr/>
          <p:nvPr/>
        </p:nvGrpSpPr>
        <p:grpSpPr>
          <a:xfrm>
            <a:off x="23190" y="4949118"/>
            <a:ext cx="5681870" cy="1365543"/>
            <a:chOff x="77417" y="3784160"/>
            <a:chExt cx="6783019" cy="1104503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4822E30-14A8-CE2F-4A66-3F84BE36A4E3}"/>
                </a:ext>
              </a:extLst>
            </p:cNvPr>
            <p:cNvSpPr txBox="1"/>
            <p:nvPr/>
          </p:nvSpPr>
          <p:spPr>
            <a:xfrm>
              <a:off x="77417" y="3784160"/>
              <a:ext cx="6783019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Analytical scope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CD62524-18D3-6C08-6A68-4BA8DD840F38}"/>
                </a:ext>
              </a:extLst>
            </p:cNvPr>
            <p:cNvSpPr txBox="1"/>
            <p:nvPr/>
          </p:nvSpPr>
          <p:spPr>
            <a:xfrm>
              <a:off x="77418" y="4149999"/>
              <a:ext cx="6783018" cy="7386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91440" indent="-285750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Retain only firms with positive turnover, which serves as a proxy for active businesses. This excludes dormant or non-operational entities so as to reduce noise and bias the model toward structural losses rather than behavioral or economic risk.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FA949F9-4E66-1D42-2486-5CA5B8762637}"/>
              </a:ext>
            </a:extLst>
          </p:cNvPr>
          <p:cNvSpPr txBox="1"/>
          <p:nvPr/>
        </p:nvSpPr>
        <p:spPr>
          <a:xfrm>
            <a:off x="6486941" y="383769"/>
            <a:ext cx="5589104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Balance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moderately imbalanced a with approximately 36 loss firms and 64 non-loss firms</a:t>
            </a:r>
          </a:p>
        </p:txBody>
      </p:sp>
    </p:spTree>
    <p:extLst>
      <p:ext uri="{BB962C8B-B14F-4D97-AF65-F5344CB8AC3E}">
        <p14:creationId xmlns:p14="http://schemas.microsoft.com/office/powerpoint/2010/main" val="28338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54417-BE69-9C2D-8077-8CF01A63D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16E594-27E9-D21C-C281-BFF6C7EE6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E40E18-352C-4EF6-FA10-862C48D37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1DEA9C80-2B46-DFC9-347E-E2396345DC91}"/>
              </a:ext>
            </a:extLst>
          </p:cNvPr>
          <p:cNvSpPr txBox="1">
            <a:spLocks/>
          </p:cNvSpPr>
          <p:nvPr/>
        </p:nvSpPr>
        <p:spPr>
          <a:xfrm>
            <a:off x="-1" y="-31958"/>
            <a:ext cx="12191999" cy="415726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Data Cleaning and Feature Engineering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81E27B-E0E6-8100-AD47-065AE9DF060F}"/>
              </a:ext>
            </a:extLst>
          </p:cNvPr>
          <p:cNvSpPr txBox="1"/>
          <p:nvPr/>
        </p:nvSpPr>
        <p:spPr>
          <a:xfrm>
            <a:off x="0" y="1070790"/>
            <a:ext cx="5705061" cy="14773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data checks performed ; with more focus on :</a:t>
            </a:r>
          </a:p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values,</a:t>
            </a:r>
          </a:p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</a:t>
            </a:r>
          </a:p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Coercion of mostly-numeric object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numeric types.</a:t>
            </a:r>
          </a:p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 sanity checks(Turnover, costs , profit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C7C165-6491-CF3E-4BE4-905CC2DCD141}"/>
              </a:ext>
            </a:extLst>
          </p:cNvPr>
          <p:cNvSpPr txBox="1"/>
          <p:nvPr/>
        </p:nvSpPr>
        <p:spPr>
          <a:xfrm>
            <a:off x="-22315" y="683310"/>
            <a:ext cx="570506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Data quality Checks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9C3A28-A6F3-FC32-4DEB-C300F6D17872}"/>
              </a:ext>
            </a:extLst>
          </p:cNvPr>
          <p:cNvSpPr txBox="1"/>
          <p:nvPr/>
        </p:nvSpPr>
        <p:spPr>
          <a:xfrm>
            <a:off x="-1" y="3088895"/>
            <a:ext cx="5705061" cy="14003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 names standardized</a:t>
            </a:r>
          </a:p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 sectors grouped for stability</a:t>
            </a:r>
          </a:p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accounting fields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aligned:TurnoverProfit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tax,Allowable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deductions</a:t>
            </a:r>
          </a:p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High-missing variables tagged (≥60%) and excluded from modelling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68F2D-A71C-1744-B3F7-CA9B03A833E9}"/>
              </a:ext>
            </a:extLst>
          </p:cNvPr>
          <p:cNvSpPr txBox="1"/>
          <p:nvPr/>
        </p:nvSpPr>
        <p:spPr>
          <a:xfrm>
            <a:off x="0" y="2750341"/>
            <a:ext cx="570506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key categorical fields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A5D5B-9711-3598-ABD9-F57E4DFD058B}"/>
              </a:ext>
            </a:extLst>
          </p:cNvPr>
          <p:cNvSpPr txBox="1"/>
          <p:nvPr/>
        </p:nvSpPr>
        <p:spPr>
          <a:xfrm>
            <a:off x="0" y="4948330"/>
            <a:ext cx="5705061" cy="19851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comparability and validity, restriction of the modelling sample  was done to firms that meet all of the following conditions:</a:t>
            </a:r>
          </a:p>
          <a:p>
            <a:pPr marL="662940" lvl="1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Non-missing gross turnover</a:t>
            </a:r>
          </a:p>
          <a:p>
            <a:pPr marL="662940" lvl="1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gross turnover (active firms)</a:t>
            </a:r>
          </a:p>
          <a:p>
            <a:pPr marL="662940" lvl="1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Non-missing profit before tax</a:t>
            </a:r>
          </a:p>
          <a:p>
            <a:pPr marL="20574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reduces  records/ data for modelling to 99491</a:t>
            </a:r>
          </a:p>
          <a:p>
            <a:pPr marL="20574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is maintained for sample.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0DB7A4-B7A9-770D-B8FB-00F713AC2030}"/>
              </a:ext>
            </a:extLst>
          </p:cNvPr>
          <p:cNvSpPr txBox="1"/>
          <p:nvPr/>
        </p:nvSpPr>
        <p:spPr>
          <a:xfrm>
            <a:off x="5946569" y="657733"/>
            <a:ext cx="5705060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stage translates raw accounting line items into economically meaningful indicators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DC7C48-B8EE-8016-5C03-FEB3E45985A4}"/>
              </a:ext>
            </a:extLst>
          </p:cNvPr>
          <p:cNvSpPr txBox="1"/>
          <p:nvPr/>
        </p:nvSpPr>
        <p:spPr>
          <a:xfrm>
            <a:off x="2" y="4600416"/>
            <a:ext cx="570506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Restricting the Modelling Sample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B14286-1826-14E2-6CD1-2C7542B8A1D2}"/>
              </a:ext>
            </a:extLst>
          </p:cNvPr>
          <p:cNvSpPr txBox="1"/>
          <p:nvPr/>
        </p:nvSpPr>
        <p:spPr>
          <a:xfrm>
            <a:off x="-22317" y="329367"/>
            <a:ext cx="202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US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09A606-9667-387C-BDCC-8990F0DA0B15}"/>
              </a:ext>
            </a:extLst>
          </p:cNvPr>
          <p:cNvSpPr txBox="1"/>
          <p:nvPr/>
        </p:nvSpPr>
        <p:spPr>
          <a:xfrm>
            <a:off x="5862866" y="383768"/>
            <a:ext cx="3074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Feature Engineering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3A30950-D1D4-49B6-EA5D-E756214F0757}"/>
              </a:ext>
            </a:extLst>
          </p:cNvPr>
          <p:cNvGrpSpPr/>
          <p:nvPr/>
        </p:nvGrpSpPr>
        <p:grpSpPr>
          <a:xfrm>
            <a:off x="5946567" y="3967787"/>
            <a:ext cx="5705061" cy="2059640"/>
            <a:chOff x="5946568" y="1244698"/>
            <a:chExt cx="5705061" cy="205964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D2FE33-0777-8A42-247B-AD7C54681980}"/>
                </a:ext>
              </a:extLst>
            </p:cNvPr>
            <p:cNvSpPr txBox="1"/>
            <p:nvPr/>
          </p:nvSpPr>
          <p:spPr>
            <a:xfrm>
              <a:off x="5946568" y="1534623"/>
              <a:ext cx="5705061" cy="176971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91440" indent="-171450">
                <a:spcBef>
                  <a:spcPts val="600"/>
                </a:spcBef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construct a set of the following ratios:</a:t>
              </a: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Cost-to-Turnover: Revenue absorbed by direct costs</a:t>
              </a: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Admin Cost Ratio: Overhead intensity</a:t>
              </a: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Employment Cost Ratio: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Labour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cost pressure</a:t>
              </a: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Financing Cost Ratio: Leverage / debt stress</a:t>
              </a: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Deductions-to-Turnover: Reliance on allowable deductions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22ECC84-B9DC-43D3-2CD8-5B02121D94C6}"/>
                </a:ext>
              </a:extLst>
            </p:cNvPr>
            <p:cNvSpPr txBox="1"/>
            <p:nvPr/>
          </p:nvSpPr>
          <p:spPr>
            <a:xfrm>
              <a:off x="5946569" y="1244698"/>
              <a:ext cx="5705060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Ratio-Based Core Features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933E1BE-DCFF-57BB-F14A-BA7819CC1545}"/>
              </a:ext>
            </a:extLst>
          </p:cNvPr>
          <p:cNvGrpSpPr/>
          <p:nvPr/>
        </p:nvGrpSpPr>
        <p:grpSpPr>
          <a:xfrm>
            <a:off x="5946568" y="1285300"/>
            <a:ext cx="5705061" cy="2413583"/>
            <a:chOff x="5946568" y="1244698"/>
            <a:chExt cx="5705061" cy="241358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6E83057-BB99-2795-DF85-CEA395A9C602}"/>
                </a:ext>
              </a:extLst>
            </p:cNvPr>
            <p:cNvSpPr txBox="1"/>
            <p:nvPr/>
          </p:nvSpPr>
          <p:spPr>
            <a:xfrm>
              <a:off x="5946568" y="1534623"/>
              <a:ext cx="5705061" cy="212365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91440" indent="-171450">
                <a:spcBef>
                  <a:spcPts val="600"/>
                </a:spcBef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construction follows four guiding principles:</a:t>
              </a: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Economic interpretability: Features reflect clear business concepts (costs, leverage)</a:t>
              </a: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Scale normalization: Ratios relative to turnover for comparability across firm sizes.</a:t>
              </a: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Leakage avoidance: No features derived from profit/target</a:t>
              </a:r>
              <a:r>
                <a:rPr lang="en-US" sz="1400" dirty="0"/>
                <a:t>.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 robustness: Safe divisions and explicit missing-value handling.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868C755-3C05-A65F-921B-4A344AECC5B1}"/>
                </a:ext>
              </a:extLst>
            </p:cNvPr>
            <p:cNvSpPr txBox="1"/>
            <p:nvPr/>
          </p:nvSpPr>
          <p:spPr>
            <a:xfrm>
              <a:off x="5946569" y="1244698"/>
              <a:ext cx="5705060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Design Principles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197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07C166-1F78-8B01-C536-3E4E3124D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1909C7-0A71-F3ED-2F33-BB8C27D52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E85FCE-9108-64AC-ECAC-355D2183F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84DE5380-B89A-EEE2-AA4F-9DDD543EDA22}"/>
              </a:ext>
            </a:extLst>
          </p:cNvPr>
          <p:cNvSpPr txBox="1">
            <a:spLocks/>
          </p:cNvSpPr>
          <p:nvPr/>
        </p:nvSpPr>
        <p:spPr>
          <a:xfrm>
            <a:off x="-1" y="-31958"/>
            <a:ext cx="12191999" cy="415726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Data Cleaning and Feature Engineering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FE31B4-79AD-770B-7B19-FCE77D8C15EB}"/>
              </a:ext>
            </a:extLst>
          </p:cNvPr>
          <p:cNvSpPr txBox="1"/>
          <p:nvPr/>
        </p:nvSpPr>
        <p:spPr>
          <a:xfrm>
            <a:off x="12034" y="1037600"/>
            <a:ext cx="5783966" cy="13234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loss risk is often non-linear, firms near cost saturation behave differently from those with healthy margins. The following binary indicators were used: </a:t>
            </a:r>
          </a:p>
          <a:p>
            <a:pPr marL="662940" lvl="1" indent="-285750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High-Cost Flag: Cost-to-turnover &gt; 90% → extreme cost pressure</a:t>
            </a:r>
          </a:p>
          <a:p>
            <a:pPr marL="662940" lvl="1" indent="-285750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Thin-Margin Flag: Margin 95–105% → near break-even, vulnerable to shocks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053F5F-6BD8-DB9C-1A9A-12CDE4EB738D}"/>
              </a:ext>
            </a:extLst>
          </p:cNvPr>
          <p:cNvSpPr txBox="1"/>
          <p:nvPr/>
        </p:nvSpPr>
        <p:spPr>
          <a:xfrm>
            <a:off x="20307" y="699046"/>
            <a:ext cx="5806281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Indicators for Threshold Effects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76E4A8-9D93-95DF-2EEB-8943D7F2259B}"/>
              </a:ext>
            </a:extLst>
          </p:cNvPr>
          <p:cNvSpPr txBox="1"/>
          <p:nvPr/>
        </p:nvSpPr>
        <p:spPr>
          <a:xfrm>
            <a:off x="0" y="3109834"/>
            <a:ext cx="5783964" cy="9541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Firms are also grouped into turnover quartiles:Q1 (smallest firms) → Q4 (largest firms) so as to capture scale effects and identify whether loss incidence is concentrated among smaller or larger firms and to support policy-relevant segmentation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5E47D5-3EA9-27A3-0BD0-C859963CD146}"/>
              </a:ext>
            </a:extLst>
          </p:cNvPr>
          <p:cNvSpPr txBox="1"/>
          <p:nvPr/>
        </p:nvSpPr>
        <p:spPr>
          <a:xfrm>
            <a:off x="-1" y="2749649"/>
            <a:ext cx="5783965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Turnover Stratification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1C373E-802E-8CD7-F5D9-44766659C3DA}"/>
              </a:ext>
            </a:extLst>
          </p:cNvPr>
          <p:cNvSpPr txBox="1"/>
          <p:nvPr/>
        </p:nvSpPr>
        <p:spPr>
          <a:xfrm>
            <a:off x="12034" y="4856114"/>
            <a:ext cx="5771930" cy="10310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Uncontrolled outliers can dominate model estimation, leading to unstable and misleading results.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ratio feature is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winsorised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1</a:t>
            </a:r>
            <a:r>
              <a:rPr lang="en-US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99</a:t>
            </a:r>
            <a:r>
              <a:rPr lang="en-US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Percentiles where the extreme low and high values are capped.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22CF78-828F-D3AF-91E1-0B370F29F42C}"/>
              </a:ext>
            </a:extLst>
          </p:cNvPr>
          <p:cNvSpPr txBox="1"/>
          <p:nvPr/>
        </p:nvSpPr>
        <p:spPr>
          <a:xfrm>
            <a:off x="-22314" y="4519316"/>
            <a:ext cx="580627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Handling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717842-1DB2-AF37-B81B-BF1E771BE7DA}"/>
              </a:ext>
            </a:extLst>
          </p:cNvPr>
          <p:cNvSpPr txBox="1"/>
          <p:nvPr/>
        </p:nvSpPr>
        <p:spPr>
          <a:xfrm>
            <a:off x="-101221" y="345347"/>
            <a:ext cx="471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Feature Engineering…cont.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1AEAD2-1687-48B6-D9D2-7F89CA176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894" y="714679"/>
            <a:ext cx="6345104" cy="355899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BE804B2-E40A-81D5-0AA5-B2D47E0E12EC}"/>
              </a:ext>
            </a:extLst>
          </p:cNvPr>
          <p:cNvSpPr txBox="1"/>
          <p:nvPr/>
        </p:nvSpPr>
        <p:spPr>
          <a:xfrm>
            <a:off x="6095998" y="4409837"/>
            <a:ext cx="6083968" cy="22006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above shows that: </a:t>
            </a:r>
          </a:p>
          <a:p>
            <a:pPr marL="662940" lvl="1" indent="-285750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Stabilization procedure worked as intended,</a:t>
            </a:r>
          </a:p>
          <a:p>
            <a:pPr marL="662940" lvl="1" indent="-285750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Outliers have been effectively trimmed. </a:t>
            </a:r>
          </a:p>
          <a:p>
            <a:pPr marL="662940" lvl="1" indent="-285750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Distributions are reasonable and interpretable.</a:t>
            </a:r>
          </a:p>
          <a:p>
            <a:pPr marL="662940" lvl="1" indent="-285750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differences between loss and non-loss firms are apparent.</a:t>
            </a:r>
          </a:p>
          <a:p>
            <a:pPr marL="91440" lvl="1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data is frozen so at ensures that all subsequent modelling, reporting, and performance comparison uses exactly the same input data, eliminating accidental variation or cherry-picking.</a:t>
            </a:r>
          </a:p>
        </p:txBody>
      </p:sp>
    </p:spTree>
    <p:extLst>
      <p:ext uri="{BB962C8B-B14F-4D97-AF65-F5344CB8AC3E}">
        <p14:creationId xmlns:p14="http://schemas.microsoft.com/office/powerpoint/2010/main" val="2494120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88B256-423D-B19B-B40E-EA41B569E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EE5C5EC-C9EC-368F-7E8E-A7986B215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E85FD9-53A3-6D86-1254-1E19A27AA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32527"/>
            <a:ext cx="12191999" cy="402766"/>
          </a:xfrm>
          <a:solidFill>
            <a:srgbClr val="00B0F0"/>
          </a:solidFill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Exploratory Data Analysis – Key Patterns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A25CE5-78F2-5846-BE09-66581813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">
            <a:extLst>
              <a:ext uri="{FF2B5EF4-FFF2-40B4-BE49-F238E27FC236}">
                <a16:creationId xmlns:a16="http://schemas.microsoft.com/office/drawing/2014/main" id="{64CBB7DC-4B88-9E96-F6C1-13830FF7121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-2" y="474572"/>
            <a:ext cx="12192002" cy="3283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shows strong and intuitive separation between loss and non‑loss firms: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5B80E1-B3D6-1FC9-F156-2C6CB0BEE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9" y="802932"/>
            <a:ext cx="3544956" cy="34409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090B9D-4BEB-33E1-91C2-CB29BC46F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671" y="842211"/>
            <a:ext cx="3102111" cy="32861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82E5CE-B44D-910B-BCCB-D181C7476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133" y="780220"/>
            <a:ext cx="2999677" cy="315461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872BF11-7434-87F1-3E94-E4AA20AC9C66}"/>
              </a:ext>
            </a:extLst>
          </p:cNvPr>
          <p:cNvSpPr txBox="1"/>
          <p:nvPr/>
        </p:nvSpPr>
        <p:spPr>
          <a:xfrm>
            <a:off x="106017" y="4327441"/>
            <a:ext cx="3544956" cy="132343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size: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rates exceed 40% in the bottom turnover quartiles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Decline steadily with size, but remain material even among large firms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2A2AFE-5425-DE49-44E2-2A8171164549}"/>
              </a:ext>
            </a:extLst>
          </p:cNvPr>
          <p:cNvSpPr txBox="1"/>
          <p:nvPr/>
        </p:nvSpPr>
        <p:spPr>
          <a:xfrm>
            <a:off x="4419047" y="4308169"/>
            <a:ext cx="3697357" cy="110799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intensity: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Dominant differentiator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firms show higher medians and heavy right tails  indicating structural cost pressure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A1AE54-C0D6-1DFE-6BDE-F31B3ACDD09E}"/>
              </a:ext>
            </a:extLst>
          </p:cNvPr>
          <p:cNvSpPr txBox="1"/>
          <p:nvPr/>
        </p:nvSpPr>
        <p:spPr>
          <a:xfrm>
            <a:off x="8647043" y="4419392"/>
            <a:ext cx="3544954" cy="81560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Financing costs: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Right‑skewed among loss firms, suggesting leverage and financing structure effects</a:t>
            </a:r>
          </a:p>
        </p:txBody>
      </p:sp>
    </p:spTree>
    <p:extLst>
      <p:ext uri="{BB962C8B-B14F-4D97-AF65-F5344CB8AC3E}">
        <p14:creationId xmlns:p14="http://schemas.microsoft.com/office/powerpoint/2010/main" val="1567870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6C61D-6E46-A8CC-B932-80D68FF64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61DDEF-C37A-58ED-EEFC-C6EAB5C9D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6AFB04-9490-3315-3F99-8ACE5AD06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32527"/>
            <a:ext cx="12191999" cy="402766"/>
          </a:xfrm>
          <a:solidFill>
            <a:srgbClr val="00B0F0"/>
          </a:solidFill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Exploratory Data Analysis – Key Patterns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18756E-2E65-C7DB-85FE-2AEE80DBB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">
            <a:extLst>
              <a:ext uri="{FF2B5EF4-FFF2-40B4-BE49-F238E27FC236}">
                <a16:creationId xmlns:a16="http://schemas.microsoft.com/office/drawing/2014/main" id="{69169A33-3369-1A34-9628-018CFD444EB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0511" y="4167809"/>
            <a:ext cx="5071051" cy="242739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Sectoral concentration: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Losses are concentrated in certain sectors:</a:t>
            </a:r>
          </a:p>
          <a:p>
            <a:pPr marL="662940" lvl="1" indent="-285750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Accommodation and food services</a:t>
            </a:r>
          </a:p>
          <a:p>
            <a:pPr marL="662940" lvl="1" indent="-285750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</a:t>
            </a:r>
          </a:p>
          <a:p>
            <a:pPr marL="662940" lvl="1" indent="-285750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Wholesale and retail trade</a:t>
            </a:r>
          </a:p>
          <a:p>
            <a:pPr marL="662940" lvl="1" indent="-285750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services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Conversely, financial and insurance sectors show lower loss rates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1631D-660D-107A-1FAA-334F85366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765"/>
            <a:ext cx="5372075" cy="35740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7BA3A7-6140-F437-A5BC-32BE9C7BC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158" y="540756"/>
            <a:ext cx="3706059" cy="3501157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774A5314-05E2-4D4D-A24D-50F8EC9CB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138" y="4378636"/>
            <a:ext cx="5071051" cy="20057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Size vs Cost Intensity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a non-linear relationship: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large firms with elevated cost intensity are likely to report losses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Justifies models capable of capturing non-linear effects and interactions</a:t>
            </a:r>
          </a:p>
        </p:txBody>
      </p:sp>
    </p:spTree>
    <p:extLst>
      <p:ext uri="{BB962C8B-B14F-4D97-AF65-F5344CB8AC3E}">
        <p14:creationId xmlns:p14="http://schemas.microsoft.com/office/powerpoint/2010/main" val="2293886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31536-901F-2BE7-0EAD-D4BB649FB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6867FB-DA6A-1198-9063-C4BC8CEA0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405D3-6F28-614B-6760-529A7DA01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32526"/>
            <a:ext cx="5890593" cy="555163"/>
          </a:xfrm>
          <a:solidFill>
            <a:srgbClr val="00B0F0"/>
          </a:solidFill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Data Preparation and Preprocessing Summary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2B9C5E-31DB-257D-2E41-BAC3EA47D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">
            <a:extLst>
              <a:ext uri="{FF2B5EF4-FFF2-40B4-BE49-F238E27FC236}">
                <a16:creationId xmlns:a16="http://schemas.microsoft.com/office/drawing/2014/main" id="{80E47FA9-51EC-4945-A305-EA0AC99FBF0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" y="753666"/>
            <a:ext cx="5783964" cy="3283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and Feature summary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DEC824-48AA-3080-EC5D-D05F0CA18901}"/>
              </a:ext>
            </a:extLst>
          </p:cNvPr>
          <p:cNvSpPr txBox="1"/>
          <p:nvPr/>
        </p:nvSpPr>
        <p:spPr>
          <a:xfrm>
            <a:off x="0" y="1087689"/>
            <a:ext cx="5783966" cy="30008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 (post-cleaning and feature engineering):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99,332 firm observations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into:</a:t>
            </a:r>
          </a:p>
          <a:p>
            <a:pPr marL="662940" lvl="1" indent="-285750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set: 74,499 observations</a:t>
            </a:r>
          </a:p>
          <a:p>
            <a:pPr marL="662940" lvl="1" indent="-285750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set: 24,833 observations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Explanatory features: 289: Which includes engineered ratios, structural flags, and one-hot encoded categorical controls.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 loss rate = 36%. This indicates moderate class imbalance, motivating metrics beyond simple accuracy such as ROC–AUC, Precision–Recall)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2A3DE9-471B-95EE-9636-882AFB62E95A}"/>
              </a:ext>
            </a:extLst>
          </p:cNvPr>
          <p:cNvCxnSpPr/>
          <p:nvPr/>
        </p:nvCxnSpPr>
        <p:spPr>
          <a:xfrm>
            <a:off x="5890591" y="435293"/>
            <a:ext cx="0" cy="6422707"/>
          </a:xfrm>
          <a:prstGeom prst="line">
            <a:avLst/>
          </a:prstGeom>
          <a:ln w="127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2B1EB38C-9637-1BF2-94AC-9CA0B1D60B9E}"/>
              </a:ext>
            </a:extLst>
          </p:cNvPr>
          <p:cNvSpPr txBox="1">
            <a:spLocks/>
          </p:cNvSpPr>
          <p:nvPr/>
        </p:nvSpPr>
        <p:spPr>
          <a:xfrm>
            <a:off x="6175513" y="108724"/>
            <a:ext cx="5943600" cy="402766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Modelling Strategy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D6B74B1-3AFA-56B9-F9A2-D697F2576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513" y="658913"/>
            <a:ext cx="5605667" cy="22775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-1714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 a baseline and progressed to richer models: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Regression- Baseline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Identical preprocessing across all models: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imputation (numeric) and Modal imputation + one-hot encoding (categorical)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DD3D2503-052F-B288-D78A-FB3DD13AC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7219" y="3429000"/>
            <a:ext cx="5783964" cy="26468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drivers of losses: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structure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Financing intensity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 and size are conditioning factors, not root causes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focus: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cost efficiency improvements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financing constraints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small and manufacturing firms for compliance monitoring,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assessment, or targeted support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5DE6115-CE64-DED6-292E-881143885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7217" y="3100640"/>
            <a:ext cx="5783964" cy="3283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Model Results – Interpreting Loss Drivers</a:t>
            </a:r>
          </a:p>
        </p:txBody>
      </p:sp>
    </p:spTree>
    <p:extLst>
      <p:ext uri="{BB962C8B-B14F-4D97-AF65-F5344CB8AC3E}">
        <p14:creationId xmlns:p14="http://schemas.microsoft.com/office/powerpoint/2010/main" val="2687250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11D55-F8D8-7FE0-15EA-2AEC3CB70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D0525C6-F198-8B8F-AEED-0100BA6FC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FE8776-BA04-55F6-A64A-9AC4EF451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32527"/>
            <a:ext cx="12191999" cy="402766"/>
          </a:xfrm>
          <a:solidFill>
            <a:srgbClr val="00B0F0"/>
          </a:solidFill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Models results and comparison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F649E0-A343-447E-86B3-877721647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2A1D04-42A1-A21B-44AE-2B6D96E61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328628"/>
              </p:ext>
            </p:extLst>
          </p:nvPr>
        </p:nvGraphicFramePr>
        <p:xfrm>
          <a:off x="804195" y="467820"/>
          <a:ext cx="10214451" cy="392559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89912">
                  <a:extLst>
                    <a:ext uri="{9D8B030D-6E8A-4147-A177-3AD203B41FA5}">
                      <a16:colId xmlns:a16="http://schemas.microsoft.com/office/drawing/2014/main" val="504902854"/>
                    </a:ext>
                  </a:extLst>
                </a:gridCol>
                <a:gridCol w="1018835">
                  <a:extLst>
                    <a:ext uri="{9D8B030D-6E8A-4147-A177-3AD203B41FA5}">
                      <a16:colId xmlns:a16="http://schemas.microsoft.com/office/drawing/2014/main" val="2588154461"/>
                    </a:ext>
                  </a:extLst>
                </a:gridCol>
                <a:gridCol w="911262">
                  <a:extLst>
                    <a:ext uri="{9D8B030D-6E8A-4147-A177-3AD203B41FA5}">
                      <a16:colId xmlns:a16="http://schemas.microsoft.com/office/drawing/2014/main" val="884665800"/>
                    </a:ext>
                  </a:extLst>
                </a:gridCol>
                <a:gridCol w="5594442">
                  <a:extLst>
                    <a:ext uri="{9D8B030D-6E8A-4147-A177-3AD203B41FA5}">
                      <a16:colId xmlns:a16="http://schemas.microsoft.com/office/drawing/2014/main" val="416803120"/>
                    </a:ext>
                  </a:extLst>
                </a:gridCol>
              </a:tblGrid>
              <a:tr h="41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Model</a:t>
                      </a:r>
                      <a:endParaRPr lang="en-US" sz="1300" dirty="0"/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ROC–AUC</a:t>
                      </a:r>
                      <a:endParaRPr lang="en-US" sz="1300"/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PR–AUC</a:t>
                      </a:r>
                      <a:endParaRPr lang="en-US" sz="1300"/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Key Takeaway</a:t>
                      </a:r>
                      <a:endParaRPr lang="en-US" sz="1300"/>
                    </a:p>
                  </a:txBody>
                  <a:tcPr marL="42342" marR="42342" marT="21170" marB="21170" anchor="ctr"/>
                </a:tc>
                <a:extLst>
                  <a:ext uri="{0D108BD9-81ED-4DB2-BD59-A6C34878D82A}">
                    <a16:rowId xmlns:a16="http://schemas.microsoft.com/office/drawing/2014/main" val="2138175315"/>
                  </a:ext>
                </a:extLst>
              </a:tr>
              <a:tr h="701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Logistic Regression (Baseline)</a:t>
                      </a:r>
                      <a:endParaRPr lang="en-US" sz="1300" dirty="0"/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0.7386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0.6593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Interpretable benchmark; shows losses are driven by cost structure, size, and sector, but limited in capturing nonlinear effects.</a:t>
                      </a:r>
                    </a:p>
                  </a:txBody>
                  <a:tcPr marL="42342" marR="42342" marT="21170" marB="21170" anchor="ctr"/>
                </a:tc>
                <a:extLst>
                  <a:ext uri="{0D108BD9-81ED-4DB2-BD59-A6C34878D82A}">
                    <a16:rowId xmlns:a16="http://schemas.microsoft.com/office/drawing/2014/main" val="335639986"/>
                  </a:ext>
                </a:extLst>
              </a:tr>
              <a:tr h="701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Random Forest</a:t>
                      </a:r>
                      <a:endParaRPr lang="en-US" sz="1300"/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0.7899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0.7252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Strong improvement over linear models; better recall of loss firms but lower precision and weaker calibration.</a:t>
                      </a:r>
                    </a:p>
                  </a:txBody>
                  <a:tcPr marL="42342" marR="42342" marT="21170" marB="21170" anchor="ctr"/>
                </a:tc>
                <a:extLst>
                  <a:ext uri="{0D108BD9-81ED-4DB2-BD59-A6C34878D82A}">
                    <a16:rowId xmlns:a16="http://schemas.microsoft.com/office/drawing/2014/main" val="3940055537"/>
                  </a:ext>
                </a:extLst>
              </a:tr>
              <a:tr h="701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 err="1"/>
                        <a:t>HistGradientBoosting</a:t>
                      </a:r>
                      <a:endParaRPr lang="en-US" sz="1300" dirty="0"/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FF0000"/>
                          </a:solidFill>
                        </a:rPr>
                        <a:t>0.798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FF0000"/>
                          </a:solidFill>
                        </a:rPr>
                        <a:t>0.750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Confirms boosting is well suited; efficient and accurate, but limited control and interpretability.</a:t>
                      </a:r>
                    </a:p>
                  </a:txBody>
                  <a:tcPr marL="42342" marR="42342" marT="21170" marB="21170" anchor="ctr"/>
                </a:tc>
                <a:extLst>
                  <a:ext uri="{0D108BD9-81ED-4DB2-BD59-A6C34878D82A}">
                    <a16:rowId xmlns:a16="http://schemas.microsoft.com/office/drawing/2014/main" val="217932278"/>
                  </a:ext>
                </a:extLst>
              </a:tr>
              <a:tr h="701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XGBoost (Fast-tuned)</a:t>
                      </a:r>
                      <a:endParaRPr lang="en-US" sz="1300"/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0.8535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0.8167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Best overall discrimination; flexible </a:t>
                      </a:r>
                      <a:r>
                        <a:rPr lang="en-US" sz="1300" dirty="0" err="1"/>
                        <a:t>regularisation</a:t>
                      </a:r>
                      <a:r>
                        <a:rPr lang="en-US" sz="1300" dirty="0"/>
                        <a:t> and strong precision for high-risk firms.</a:t>
                      </a:r>
                    </a:p>
                  </a:txBody>
                  <a:tcPr marL="42342" marR="42342" marT="21170" marB="21170" anchor="ctr"/>
                </a:tc>
                <a:extLst>
                  <a:ext uri="{0D108BD9-81ED-4DB2-BD59-A6C34878D82A}">
                    <a16:rowId xmlns:a16="http://schemas.microsoft.com/office/drawing/2014/main" val="2787115127"/>
                  </a:ext>
                </a:extLst>
              </a:tr>
              <a:tr h="701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 err="1"/>
                        <a:t>Optimised</a:t>
                      </a:r>
                      <a:r>
                        <a:rPr lang="en-US" sz="1300" b="1" dirty="0"/>
                        <a:t> </a:t>
                      </a:r>
                      <a:r>
                        <a:rPr lang="en-US" sz="1300" b="1" dirty="0" err="1"/>
                        <a:t>XGBoost</a:t>
                      </a:r>
                      <a:r>
                        <a:rPr lang="en-US" sz="1300" b="1" dirty="0"/>
                        <a:t> (Early-Stopping)</a:t>
                      </a:r>
                      <a:endParaRPr lang="en-US" sz="1300" dirty="0"/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0.8509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0.8131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Best calibrated and most stable model; preferred for operational, risk-based compliance profiling.</a:t>
                      </a:r>
                    </a:p>
                  </a:txBody>
                  <a:tcPr marL="42342" marR="42342" marT="21170" marB="21170" anchor="ctr"/>
                </a:tc>
                <a:extLst>
                  <a:ext uri="{0D108BD9-81ED-4DB2-BD59-A6C34878D82A}">
                    <a16:rowId xmlns:a16="http://schemas.microsoft.com/office/drawing/2014/main" val="236340108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5566B98-2D94-868A-E0D0-F82BA1F41653}"/>
              </a:ext>
            </a:extLst>
          </p:cNvPr>
          <p:cNvSpPr txBox="1"/>
          <p:nvPr/>
        </p:nvSpPr>
        <p:spPr>
          <a:xfrm>
            <a:off x="692426" y="4695376"/>
            <a:ext cx="10326220" cy="14157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highest discrimination and precision, ideal for targeted risk profiling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recall, lower precision → better for broad coverage but less targeting efficiency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linear specification underperforms, limited for complex nonlinear patterns</a:t>
            </a:r>
          </a:p>
        </p:txBody>
      </p:sp>
    </p:spTree>
    <p:extLst>
      <p:ext uri="{BB962C8B-B14F-4D97-AF65-F5344CB8AC3E}">
        <p14:creationId xmlns:p14="http://schemas.microsoft.com/office/powerpoint/2010/main" val="1000218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79A492-BBB4-A5F5-193D-EE9754893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079D3A-54D1-05A4-D45E-42C65034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12B2A5-8958-962E-AE23-638C3E7A3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32527"/>
            <a:ext cx="12191999" cy="402766"/>
          </a:xfrm>
          <a:solidFill>
            <a:srgbClr val="00B0F0"/>
          </a:solidFill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Feature Importance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677A6E-7B1A-C82F-C867-98D290044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07FC4C9-1E79-5EB9-AAA9-5EB4CCD65495}"/>
              </a:ext>
            </a:extLst>
          </p:cNvPr>
          <p:cNvSpPr txBox="1"/>
          <p:nvPr/>
        </p:nvSpPr>
        <p:spPr>
          <a:xfrm>
            <a:off x="6903863" y="467819"/>
            <a:ext cx="5288134" cy="43088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(GAIN):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average improvement in the objective function due to splits on each feature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drivers: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Cost-to-turnover ratio – strongest predictor, highlights centrality of cost pressure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Sectoral indicators – Construction, Financial/Insurance, Manufacturing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size quartiles – especially largest firms (Q4)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High-cost / thin-margin flags – viability threshold indicators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Financing and deduction intensity – leverage and tax adjustments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nonlinear interactions between costs, size, and sector more effectively than linear/logistic models, while maintaining economic interpretability.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9D331-9F73-9E6D-3201-B51E3D091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448871"/>
            <a:ext cx="6550002" cy="43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49417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Bjorn">
      <a:dk1>
        <a:sysClr val="windowText" lastClr="000000"/>
      </a:dk1>
      <a:lt1>
        <a:sysClr val="window" lastClr="FFFFFF"/>
      </a:lt1>
      <a:dk2>
        <a:srgbClr val="252747"/>
      </a:dk2>
      <a:lt2>
        <a:srgbClr val="ECE4E9"/>
      </a:lt2>
      <a:accent1>
        <a:srgbClr val="736EB6"/>
      </a:accent1>
      <a:accent2>
        <a:srgbClr val="AB5991"/>
      </a:accent2>
      <a:accent3>
        <a:srgbClr val="AC9F39"/>
      </a:accent3>
      <a:accent4>
        <a:srgbClr val="756029"/>
      </a:accent4>
      <a:accent5>
        <a:srgbClr val="E87850"/>
      </a:accent5>
      <a:accent6>
        <a:srgbClr val="C6922A"/>
      </a:accent6>
      <a:hlink>
        <a:srgbClr val="736EB6"/>
      </a:hlink>
      <a:folHlink>
        <a:srgbClr val="AB5991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1410</Words>
  <Application>Microsoft Office PowerPoint</Application>
  <PresentationFormat>Widescreen</PresentationFormat>
  <Paragraphs>172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Courier New</vt:lpstr>
      <vt:lpstr>Neue Haas Grotesk Text Pro</vt:lpstr>
      <vt:lpstr>Times New Roman</vt:lpstr>
      <vt:lpstr>Wingdings</vt:lpstr>
      <vt:lpstr>BjornVTI</vt:lpstr>
      <vt:lpstr>Predicting Loss-Making Firms Using Administrative Tax Data</vt:lpstr>
      <vt:lpstr>Purpose and Policy Context</vt:lpstr>
      <vt:lpstr>PowerPoint Presentation</vt:lpstr>
      <vt:lpstr>PowerPoint Presentation</vt:lpstr>
      <vt:lpstr>PowerPoint Presentation</vt:lpstr>
      <vt:lpstr>Exploratory Data Analysis – Key Patterns</vt:lpstr>
      <vt:lpstr>Exploratory Data Analysis – Key Patterns</vt:lpstr>
      <vt:lpstr>Data Preparation and Preprocessing Summary</vt:lpstr>
      <vt:lpstr>Models results and comparison</vt:lpstr>
      <vt:lpstr>Feature Importance </vt:lpstr>
    </vt:vector>
  </TitlesOfParts>
  <Company>CBK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W. Kinyanjui</dc:creator>
  <cp:lastModifiedBy>Grace W. Kinyanjui</cp:lastModifiedBy>
  <cp:revision>1</cp:revision>
  <dcterms:created xsi:type="dcterms:W3CDTF">2026-01-23T06:16:09Z</dcterms:created>
  <dcterms:modified xsi:type="dcterms:W3CDTF">2026-01-23T14:33:02Z</dcterms:modified>
</cp:coreProperties>
</file>